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74727-070C-AF0C-1E5E-EBFA19F46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7A244F-8AFF-33C6-706F-AC3E12FAB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1382A-319E-BD73-B415-932DB96D3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98148-D092-468A-AA0E-990BF9ABAE1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D2D9A-9380-9330-8D12-79BAC043D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B911A-00F6-8C3C-41E2-91ECC82D2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75F36-AE7C-48E3-9F53-A3C28BE15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93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3CD6A-FA8D-DA4E-C1C0-BA83332BF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E880E-7AE9-1932-36C4-DF4FAAF93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741F5-21CD-90B5-CD04-E99C9A206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98148-D092-468A-AA0E-990BF9ABAE1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5E0A1-A840-9EA5-96A4-289BD9CEE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67F7F-499F-95D2-2D51-6DC67B6DF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75F36-AE7C-48E3-9F53-A3C28BE15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24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8A568-7767-F1A2-C93B-D0A35F8CE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DAC3E-75B9-C2BB-365A-0945847E5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CA04A-A42B-A44C-9864-4C80D3F28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98148-D092-468A-AA0E-990BF9ABAE1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5B02D-58F4-E25F-FFAB-6A79B8306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5CF5F-2301-6F2B-5426-83E01CA2D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75F36-AE7C-48E3-9F53-A3C28BE15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762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6DC0C-7765-FAD5-BD7B-6E961C392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D80FB-13CC-BEA9-6A07-9D64680F5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C2E6EB-9C92-D809-4D95-EDF218514D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0ECB3-7BCD-3147-3AFB-612D74784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98148-D092-468A-AA0E-990BF9ABAE1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14837-8C05-F0E8-C77F-2A82B181F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998F94-241E-8C2A-A1B7-12980C84D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75F36-AE7C-48E3-9F53-A3C28BE15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893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45927-4777-B840-16FA-22AB2F331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F7E10-8281-8B42-3540-72B86F090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FB357F-31A6-2B03-3FE3-13BC3F9E8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5B4B2B-6B18-AF5E-097E-E36D5FF6A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D446D6-D1BD-AB4B-E4AD-21DF6B951F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9329BC-B5CD-768C-9740-E9C21FA0D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98148-D092-468A-AA0E-990BF9ABAE1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3DE031-9193-1710-9CEB-004B1756E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1FE90F-4538-8928-01B9-8AC218EC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75F36-AE7C-48E3-9F53-A3C28BE15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728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61848-4CC2-40EF-1C79-167073F62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21BBD2-44DF-3F4D-3F0B-21E2D4CBE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98148-D092-468A-AA0E-990BF9ABAE1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5D8A67-7D0E-474D-B7B1-54D1DE29E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C0AF84-574C-919F-4024-225F4A198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75F36-AE7C-48E3-9F53-A3C28BE15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975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BA86A9-4918-BDB3-9FF2-379675E97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98148-D092-468A-AA0E-990BF9ABAE1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81B642-3706-1BD1-F2F6-891977A73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916AD-336C-CAC7-DA4E-DECD32542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75F36-AE7C-48E3-9F53-A3C28BE15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39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428E6-B6DF-7B21-F98E-DA21CF37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7BDC1-8F14-6917-57E5-43BFEAC1F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B9F717-FB0B-3438-0526-38F060E58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FCB63-69C4-72C9-3F7A-7A34F5630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98148-D092-468A-AA0E-990BF9ABAE1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06516-2C75-2777-18D9-BE56D0B09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AF0A2-1620-D40C-3553-9D3F50141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75F36-AE7C-48E3-9F53-A3C28BE15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769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C819D-20EE-8D10-A368-63BB79E78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8542CD-E969-C935-CEE4-E4CD3AC6DE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248FF-7F6A-4C21-FF71-B702B7752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CFEFB-F668-06FF-D785-0285FE35C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98148-D092-468A-AA0E-990BF9ABAE1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85849-31B3-1410-AC6C-6887E0BD6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08DFF-4DB1-958E-CEA5-AC4FC3BA3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75F36-AE7C-48E3-9F53-A3C28BE15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83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47ECA-942F-7B57-1EDB-AFDE3025D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86F358-BCB9-EB88-F203-777FE7930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30B77-EA17-87EF-2F56-5F28B060A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98148-D092-468A-AA0E-990BF9ABAE1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FEC93-B20E-DBEA-AA6D-050A22173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D824B-4556-9035-B238-C98B633D9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75F36-AE7C-48E3-9F53-A3C28BE15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133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3F57CF-3E98-7A5D-76F3-8CDA54D453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F61F31-EEEB-CBB2-5760-4628FFD4E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ADA1F-9DD3-7D54-D1BE-AACB4BD39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98148-D092-468A-AA0E-990BF9ABAE1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9BDD5-C676-0247-6EA9-A998165C0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4F3CE-114F-5B15-DC63-4709E7AC6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75F36-AE7C-48E3-9F53-A3C28BE15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57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2FB8FC-1A88-6D25-5DAE-74010DF63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846D0-F040-2328-CE1A-440B35288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3C75A-E65B-6ABD-66AC-F500B229B6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E98148-D092-468A-AA0E-990BF9ABAE1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E8B7C-F263-92A9-A688-97383165C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B8833-8BE3-886F-B0FF-10FF5911D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975F36-AE7C-48E3-9F53-A3C28BE15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17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93A2A2-92BD-7221-D173-86A1435FCA34}"/>
              </a:ext>
            </a:extLst>
          </p:cNvPr>
          <p:cNvSpPr txBox="1"/>
          <p:nvPr/>
        </p:nvSpPr>
        <p:spPr>
          <a:xfrm>
            <a:off x="1052052" y="452284"/>
            <a:ext cx="9960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err="1"/>
              <a:t>Đà</a:t>
            </a:r>
            <a:r>
              <a:rPr lang="en-US" sz="2800"/>
              <a:t> </a:t>
            </a:r>
            <a:r>
              <a:rPr lang="en-US" sz="2800" err="1"/>
              <a:t>Nẵng</a:t>
            </a:r>
            <a:r>
              <a:rPr lang="en-US" sz="2800"/>
              <a:t> </a:t>
            </a:r>
            <a:r>
              <a:rPr lang="en-US" sz="2800" err="1"/>
              <a:t>ngày</a:t>
            </a:r>
            <a:r>
              <a:rPr lang="en-US" sz="2800"/>
              <a:t> 15 </a:t>
            </a:r>
            <a:r>
              <a:rPr lang="en-US" sz="2800" err="1"/>
              <a:t>tháng</a:t>
            </a:r>
            <a:r>
              <a:rPr lang="en-US" sz="2800"/>
              <a:t> 01 </a:t>
            </a:r>
            <a:r>
              <a:rPr lang="en-US" sz="2800" err="1"/>
              <a:t>năm</a:t>
            </a:r>
            <a:r>
              <a:rPr lang="en-US" sz="2800"/>
              <a:t> 2016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4CA050-D7BD-8012-21D1-6FD69FBF67D6}"/>
              </a:ext>
            </a:extLst>
          </p:cNvPr>
          <p:cNvSpPr txBox="1"/>
          <p:nvPr/>
        </p:nvSpPr>
        <p:spPr>
          <a:xfrm>
            <a:off x="1042219" y="2252020"/>
            <a:ext cx="101075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/>
              <a:t>BÁO CÁO TOPIC 1: CORE ARM M4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C8371-92F3-0592-A807-D0E093E232AC}"/>
              </a:ext>
            </a:extLst>
          </p:cNvPr>
          <p:cNvSpPr txBox="1"/>
          <p:nvPr/>
        </p:nvSpPr>
        <p:spPr>
          <a:xfrm>
            <a:off x="7236542" y="5319251"/>
            <a:ext cx="4955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Người thực hiện: Phan Ngọc Quý</a:t>
            </a:r>
          </a:p>
        </p:txBody>
      </p:sp>
    </p:spTree>
    <p:extLst>
      <p:ext uri="{BB962C8B-B14F-4D97-AF65-F5344CB8AC3E}">
        <p14:creationId xmlns:p14="http://schemas.microsoft.com/office/powerpoint/2010/main" val="1710112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4B0077-BAD8-6DC2-84D4-65A7DE41EB88}"/>
              </a:ext>
            </a:extLst>
          </p:cNvPr>
          <p:cNvSpPr txBox="1"/>
          <p:nvPr/>
        </p:nvSpPr>
        <p:spPr>
          <a:xfrm>
            <a:off x="511277" y="393290"/>
            <a:ext cx="725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1. Tiếp cận tổng thể/logic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ADD0C4-498F-F9BE-B47E-7B9FBFFAEABA}"/>
              </a:ext>
            </a:extLst>
          </p:cNvPr>
          <p:cNvSpPr txBox="1"/>
          <p:nvPr/>
        </p:nvSpPr>
        <p:spPr>
          <a:xfrm>
            <a:off x="786580" y="1364537"/>
            <a:ext cx="4778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Ngôn ngữ lập trình / phần mềm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BE7BE4-3606-DA7B-D0A5-D2A5FCAC297D}"/>
              </a:ext>
            </a:extLst>
          </p:cNvPr>
          <p:cNvSpPr txBox="1"/>
          <p:nvPr/>
        </p:nvSpPr>
        <p:spPr>
          <a:xfrm>
            <a:off x="5565058" y="1394033"/>
            <a:ext cx="3510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CPU/ phần cứng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281F15-74A1-E410-42C2-685260B75266}"/>
              </a:ext>
            </a:extLst>
          </p:cNvPr>
          <p:cNvSpPr txBox="1"/>
          <p:nvPr/>
        </p:nvSpPr>
        <p:spPr>
          <a:xfrm>
            <a:off x="1533832" y="1763365"/>
            <a:ext cx="4336025" cy="2787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/>
              <a:t>Biến </a:t>
            </a:r>
          </a:p>
          <a:p>
            <a:pPr>
              <a:lnSpc>
                <a:spcPct val="200000"/>
              </a:lnSpc>
            </a:pPr>
            <a:r>
              <a:rPr lang="en-US"/>
              <a:t>Phép gán</a:t>
            </a:r>
          </a:p>
          <a:p>
            <a:pPr>
              <a:lnSpc>
                <a:spcPct val="200000"/>
              </a:lnSpc>
            </a:pPr>
            <a:r>
              <a:rPr lang="en-US"/>
              <a:t>Phép toán</a:t>
            </a:r>
          </a:p>
          <a:p>
            <a:pPr>
              <a:lnSpc>
                <a:spcPct val="200000"/>
              </a:lnSpc>
            </a:pPr>
            <a:r>
              <a:rPr lang="en-US"/>
              <a:t>Điều kiện/vòng lặp</a:t>
            </a:r>
          </a:p>
          <a:p>
            <a:pPr>
              <a:lnSpc>
                <a:spcPct val="200000"/>
              </a:lnSpc>
            </a:pPr>
            <a:r>
              <a:rPr lang="en-US"/>
              <a:t>Hàm/Thủ tục/Chương trình con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40EB56-FA8B-BFA0-37AF-17DAA614F144}"/>
              </a:ext>
            </a:extLst>
          </p:cNvPr>
          <p:cNvSpPr txBox="1"/>
          <p:nvPr/>
        </p:nvSpPr>
        <p:spPr>
          <a:xfrm>
            <a:off x="6322145" y="1733869"/>
            <a:ext cx="3814916" cy="3895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/>
              <a:t>Thanh ghi</a:t>
            </a:r>
          </a:p>
          <a:p>
            <a:pPr>
              <a:lnSpc>
                <a:spcPct val="200000"/>
              </a:lnSpc>
            </a:pPr>
            <a:r>
              <a:rPr lang="en-US"/>
              <a:t>Đọc/ghi</a:t>
            </a:r>
          </a:p>
          <a:p>
            <a:pPr>
              <a:lnSpc>
                <a:spcPct val="200000"/>
              </a:lnSpc>
            </a:pPr>
            <a:r>
              <a:rPr lang="en-US"/>
              <a:t>ALU</a:t>
            </a:r>
          </a:p>
          <a:p>
            <a:pPr>
              <a:lnSpc>
                <a:spcPct val="200000"/>
              </a:lnSpc>
            </a:pPr>
            <a:r>
              <a:rPr lang="en-US"/>
              <a:t>Nhảy</a:t>
            </a:r>
          </a:p>
          <a:p>
            <a:pPr>
              <a:lnSpc>
                <a:spcPct val="200000"/>
              </a:lnSpc>
            </a:pPr>
            <a:r>
              <a:rPr lang="en-US"/>
              <a:t>Stack</a:t>
            </a:r>
          </a:p>
          <a:p>
            <a:pPr>
              <a:lnSpc>
                <a:spcPct val="200000"/>
              </a:lnSpc>
            </a:pPr>
            <a:r>
              <a:rPr lang="en-US"/>
              <a:t>Memory</a:t>
            </a:r>
          </a:p>
          <a:p>
            <a:pPr>
              <a:lnSpc>
                <a:spcPct val="200000"/>
              </a:lnSpc>
            </a:pPr>
            <a:r>
              <a:rPr lang="en-US"/>
              <a:t>Interupt*</a:t>
            </a:r>
          </a:p>
        </p:txBody>
      </p:sp>
    </p:spTree>
    <p:extLst>
      <p:ext uri="{BB962C8B-B14F-4D97-AF65-F5344CB8AC3E}">
        <p14:creationId xmlns:p14="http://schemas.microsoft.com/office/powerpoint/2010/main" val="1454908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EB3A3B-3C07-D370-1CC9-32A53F7C1F21}"/>
              </a:ext>
            </a:extLst>
          </p:cNvPr>
          <p:cNvSpPr txBox="1"/>
          <p:nvPr/>
        </p:nvSpPr>
        <p:spPr>
          <a:xfrm>
            <a:off x="511277" y="393290"/>
            <a:ext cx="725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2. Thanh ghi (biến)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D885E5-7F45-EE93-B925-1B47D8341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877" y="924031"/>
            <a:ext cx="6553768" cy="45190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69E372-8F00-8D1F-9621-61BC8D9FB654}"/>
              </a:ext>
            </a:extLst>
          </p:cNvPr>
          <p:cNvSpPr txBox="1"/>
          <p:nvPr/>
        </p:nvSpPr>
        <p:spPr>
          <a:xfrm>
            <a:off x="963560" y="854955"/>
            <a:ext cx="3392129" cy="3272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/>
              <a:t>Kiểu dữ liệu</a:t>
            </a:r>
          </a:p>
          <a:p>
            <a:pPr>
              <a:lnSpc>
                <a:spcPct val="300000"/>
              </a:lnSpc>
            </a:pPr>
            <a:r>
              <a:rPr lang="en-US"/>
              <a:t>32-bit words</a:t>
            </a:r>
          </a:p>
          <a:p>
            <a:pPr>
              <a:lnSpc>
                <a:spcPct val="300000"/>
              </a:lnSpc>
            </a:pPr>
            <a:r>
              <a:rPr lang="en-US"/>
              <a:t>16-bit halfwords</a:t>
            </a:r>
          </a:p>
          <a:p>
            <a:pPr>
              <a:lnSpc>
                <a:spcPct val="300000"/>
              </a:lnSpc>
            </a:pPr>
            <a:r>
              <a:rPr lang="en-US"/>
              <a:t>8-bit bytes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72F01B-E115-17FA-7014-6F6285D55AB8}"/>
              </a:ext>
            </a:extLst>
          </p:cNvPr>
          <p:cNvSpPr txBox="1"/>
          <p:nvPr/>
        </p:nvSpPr>
        <p:spPr>
          <a:xfrm>
            <a:off x="6641690" y="5669991"/>
            <a:ext cx="2615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Thanh ghi 32 bit</a:t>
            </a:r>
          </a:p>
        </p:txBody>
      </p:sp>
    </p:spTree>
    <p:extLst>
      <p:ext uri="{BB962C8B-B14F-4D97-AF65-F5344CB8AC3E}">
        <p14:creationId xmlns:p14="http://schemas.microsoft.com/office/powerpoint/2010/main" val="193820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9FA0A3-0D39-6C1C-8D3D-DA6CD26536F0}"/>
              </a:ext>
            </a:extLst>
          </p:cNvPr>
          <p:cNvSpPr txBox="1"/>
          <p:nvPr/>
        </p:nvSpPr>
        <p:spPr>
          <a:xfrm>
            <a:off x="481780" y="393290"/>
            <a:ext cx="725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3. Memory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28886B-A8B5-9A49-1E47-FBDE77E64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591" y="184383"/>
            <a:ext cx="7016847" cy="628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990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C4C85F-6B76-5A37-FDDE-FC7462DFFE47}"/>
              </a:ext>
            </a:extLst>
          </p:cNvPr>
          <p:cNvSpPr txBox="1"/>
          <p:nvPr/>
        </p:nvSpPr>
        <p:spPr>
          <a:xfrm>
            <a:off x="511277" y="393290"/>
            <a:ext cx="725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4. Nhảy (điều kiện/vòng lặp)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57F248-4EA0-17D5-87E3-80F42F02F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472" y="3143259"/>
            <a:ext cx="3635055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284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14CAFB-7485-9C4F-154F-59E02DED1E94}"/>
              </a:ext>
            </a:extLst>
          </p:cNvPr>
          <p:cNvSpPr txBox="1"/>
          <p:nvPr/>
        </p:nvSpPr>
        <p:spPr>
          <a:xfrm>
            <a:off x="481781" y="393290"/>
            <a:ext cx="7305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5. Stack(Hàm/Thủ tục/Chương trình con)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D2A98E-4F36-9F50-76C6-E696F549F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586" y="2914605"/>
            <a:ext cx="8862828" cy="102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611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49FBC9-B628-343E-9983-A595767090D2}"/>
              </a:ext>
            </a:extLst>
          </p:cNvPr>
          <p:cNvSpPr txBox="1"/>
          <p:nvPr/>
        </p:nvSpPr>
        <p:spPr>
          <a:xfrm>
            <a:off x="481780" y="393290"/>
            <a:ext cx="725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6. Đặc trưng ARM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E962EC-04D0-FBF4-CDFB-7077F799A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987" y="2204019"/>
            <a:ext cx="9304826" cy="195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465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395935-45E9-DA68-67D5-C043E737F709}"/>
              </a:ext>
            </a:extLst>
          </p:cNvPr>
          <p:cNvSpPr txBox="1"/>
          <p:nvPr/>
        </p:nvSpPr>
        <p:spPr>
          <a:xfrm>
            <a:off x="481780" y="393290"/>
            <a:ext cx="725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7. Các thanh ghi đặc biệt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B80C9C-E823-4507-9152-E5AAC0F75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80" y="1470634"/>
            <a:ext cx="9579170" cy="25300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892B00-CC59-6588-B240-736D9ACBB1A1}"/>
              </a:ext>
            </a:extLst>
          </p:cNvPr>
          <p:cNvSpPr txBox="1"/>
          <p:nvPr/>
        </p:nvSpPr>
        <p:spPr>
          <a:xfrm>
            <a:off x="522621" y="978128"/>
            <a:ext cx="358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Hiển thị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5B9A17-A0EC-17DE-852F-021DD9B6906C}"/>
              </a:ext>
            </a:extLst>
          </p:cNvPr>
          <p:cNvSpPr txBox="1"/>
          <p:nvPr/>
        </p:nvSpPr>
        <p:spPr>
          <a:xfrm>
            <a:off x="522621" y="4247040"/>
            <a:ext cx="2140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Điều khiển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380EBD-EB49-47B4-504F-9A1D6E3D6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80" y="5095373"/>
            <a:ext cx="11547205" cy="89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978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3B9D5A-2830-D3C8-4D7B-7F4936F2F450}"/>
              </a:ext>
            </a:extLst>
          </p:cNvPr>
          <p:cNvSpPr txBox="1"/>
          <p:nvPr/>
        </p:nvSpPr>
        <p:spPr>
          <a:xfrm>
            <a:off x="481780" y="393290"/>
            <a:ext cx="725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8. So sánh với kiến trúc khác (RISC-V)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2FE36B-A982-C703-886E-EFCD051753AB}"/>
              </a:ext>
            </a:extLst>
          </p:cNvPr>
          <p:cNvSpPr txBox="1"/>
          <p:nvPr/>
        </p:nvSpPr>
        <p:spPr>
          <a:xfrm>
            <a:off x="1002889" y="1484671"/>
            <a:ext cx="5220929" cy="2718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Ưu điểm</a:t>
            </a:r>
          </a:p>
          <a:p>
            <a:pPr>
              <a:lnSpc>
                <a:spcPct val="300000"/>
              </a:lnSpc>
            </a:pPr>
            <a:r>
              <a:rPr lang="en-US"/>
              <a:t>+ Phản ứng nhanh.</a:t>
            </a:r>
          </a:p>
          <a:p>
            <a:pPr>
              <a:lnSpc>
                <a:spcPct val="300000"/>
              </a:lnSpc>
            </a:pPr>
            <a:r>
              <a:rPr lang="en-US"/>
              <a:t>+Ít thanh ghi, một instruction làm được nhiều hơn.</a:t>
            </a:r>
          </a:p>
          <a:p>
            <a:pPr>
              <a:lnSpc>
                <a:spcPct val="300000"/>
              </a:lnSpc>
            </a:pPr>
            <a:r>
              <a:rPr lang="en-US"/>
              <a:t>+ Tối ưu tự động về phần cứng.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3DECC6-A35A-6ECA-3461-391220ACD41B}"/>
              </a:ext>
            </a:extLst>
          </p:cNvPr>
          <p:cNvSpPr txBox="1"/>
          <p:nvPr/>
        </p:nvSpPr>
        <p:spPr>
          <a:xfrm>
            <a:off x="6479460" y="1307690"/>
            <a:ext cx="4395019" cy="1368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en-US"/>
              <a:t>Nhược điểm</a:t>
            </a:r>
          </a:p>
          <a:p>
            <a:pPr>
              <a:lnSpc>
                <a:spcPct val="250000"/>
              </a:lnSpc>
            </a:pPr>
            <a:r>
              <a:rPr lang="en-US"/>
              <a:t>+ Phần cứng phức tạp</a:t>
            </a:r>
          </a:p>
        </p:txBody>
      </p:sp>
    </p:spTree>
    <p:extLst>
      <p:ext uri="{BB962C8B-B14F-4D97-AF65-F5344CB8AC3E}">
        <p14:creationId xmlns:p14="http://schemas.microsoft.com/office/powerpoint/2010/main" val="4111885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F16A15-B225-EFF0-A510-49036AA320D1}"/>
              </a:ext>
            </a:extLst>
          </p:cNvPr>
          <p:cNvSpPr txBox="1"/>
          <p:nvPr/>
        </p:nvSpPr>
        <p:spPr>
          <a:xfrm>
            <a:off x="481780" y="393290"/>
            <a:ext cx="725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9. STM32F407 DISCOVERY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4D7FB6-AE0E-CF8E-315C-C25584A82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883" y="1201662"/>
            <a:ext cx="4016088" cy="480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044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7297C6-9130-66C0-B765-8A9F3CA7D6EB}"/>
              </a:ext>
            </a:extLst>
          </p:cNvPr>
          <p:cNvSpPr txBox="1"/>
          <p:nvPr/>
        </p:nvSpPr>
        <p:spPr>
          <a:xfrm>
            <a:off x="1256044" y="1972153"/>
            <a:ext cx="1032970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/>
              <a:t>Cảm ơn!!!</a:t>
            </a:r>
          </a:p>
        </p:txBody>
      </p:sp>
    </p:spTree>
    <p:extLst>
      <p:ext uri="{BB962C8B-B14F-4D97-AF65-F5344CB8AC3E}">
        <p14:creationId xmlns:p14="http://schemas.microsoft.com/office/powerpoint/2010/main" val="945954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186</Words>
  <Application>Microsoft Office PowerPoint</Application>
  <PresentationFormat>Widescreen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Phan Ngọc Quý</dc:creator>
  <cp:lastModifiedBy>Phan Ngọc Quý</cp:lastModifiedBy>
  <cp:revision>2</cp:revision>
  <dcterms:created xsi:type="dcterms:W3CDTF">2026-01-14T17:15:05Z</dcterms:created>
  <dcterms:modified xsi:type="dcterms:W3CDTF">2026-01-14T19:10:08Z</dcterms:modified>
</cp:coreProperties>
</file>